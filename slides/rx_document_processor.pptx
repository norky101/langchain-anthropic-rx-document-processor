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RX DOC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93F"/>
                </a:solidFill>
                <a:latin typeface="Helvetica Neue"/>
              </a:rPr>
              <a:t>The intake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Long-tail B2B pharma buyers don't run EDI. Orders arrive in three messy channels.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200400" cy="18288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73152" cy="18288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Faxed purchase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Hospital pharmacies → 503B compounders.
Free-text notes, table-of-line-items.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194560"/>
            <a:ext cx="3200400" cy="18288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2194560"/>
            <a:ext cx="73152" cy="18288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2423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Emailed reorder spreadsheets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546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Pharmacy chains.
Column names chosen by the buyer:
Acct, NDC#, item, strngth, pkg…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94560"/>
            <a:ext cx="3200400" cy="18288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2194560"/>
            <a:ext cx="73152" cy="18288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423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Text messages to the 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1546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Independents.
“need 20 bottles metformin
500mg, account 12345 — Joe”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Today: ops teams hand-key each document into the marketplace or supplier ERP.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95051"/>
                </a:solidFill>
                <a:latin typeface="Helvetica Neue"/>
              </a:rPr>
              <a:t>•  Slow — multi-day fulfillment lag from manual keying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0176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95051"/>
                </a:solidFill>
                <a:latin typeface="Helvetica Neue"/>
              </a:rPr>
              <a:t>•  Error-prone — wrong NDC, wrong quantity → recall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9437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95051"/>
                </a:solidFill>
                <a:latin typeface="Helvetica Neue"/>
              </a:rPr>
              <a:t>•  Engineering-bottlenecked — every new buyer channel needs a new parser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8698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95051"/>
                </a:solidFill>
                <a:latin typeface="Helvetica Neue"/>
              </a:rPr>
              <a:t>•  Compliance-hostile — sensitive identifiers persist in inboxes; no consistent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Helvetica Neue"/>
              </a:rPr>
              <a:t>1 / 5  ·  Order &amp; Document Intake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RX DOC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93F"/>
                </a:solidFill>
                <a:latin typeface="Helvetica Neue"/>
              </a:rPr>
              <a:t>Six stages, three deterministic, one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Bytes through one pipeline regardless of input format. New formats add no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881360" cy="56692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305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93F"/>
                </a:solidFill>
                <a:latin typeface="Helvetica Neue"/>
              </a:rPr>
              <a:t>Extension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95051"/>
                </a:solidFill>
                <a:latin typeface="Helvetica Neue"/>
              </a:rPr>
              <a:t>src/detector.py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10881360" cy="56692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706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706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93F"/>
                </a:solidFill>
                <a:latin typeface="Helvetica Neue"/>
              </a:rPr>
              <a:t>pypdf · pandas · passthrough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95051"/>
                </a:solidFill>
                <a:latin typeface="Helvetica Neue"/>
              </a:rPr>
              <a:t>src/extractors.py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91840"/>
            <a:ext cx="10881360" cy="56692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9184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4107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SCRUB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429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93F"/>
                </a:solidFill>
                <a:latin typeface="Helvetica Neue"/>
              </a:rPr>
              <a:t>Deterministic regex → typed [REDACTED_*]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429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95051"/>
                </a:solidFill>
                <a:latin typeface="Helvetica Neue"/>
              </a:rPr>
              <a:t>src/scrubber.py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10881360" cy="566928"/>
          </a:xfrm>
          <a:prstGeom prst="rect">
            <a:avLst/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93192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507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05079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STRUCTURED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069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 Neue"/>
              </a:rPr>
              <a:t>LangChain init_chat_model + with_structured_output · Claude Haiku 4.5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069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D2E5E5"/>
                </a:solidFill>
                <a:latin typeface="Helvetica Neue"/>
              </a:rPr>
              <a:t>src/llm.py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572000"/>
            <a:ext cx="10881360" cy="56692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57200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6908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709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93F"/>
                </a:solidFill>
                <a:latin typeface="Helvetica Neue"/>
              </a:rPr>
              <a:t>Pydantic v2 PurchaseOrder + LineItem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709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95051"/>
                </a:solidFill>
                <a:latin typeface="Helvetica Neue"/>
              </a:rPr>
              <a:t>src/schema.py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212080"/>
            <a:ext cx="10881360" cy="56692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212080"/>
            <a:ext cx="73152" cy="566928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309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A8B3"/>
                </a:solidFill>
                <a:latin typeface="Helvetica Neue"/>
              </a:rPr>
              <a:t>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33095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93F"/>
                </a:solidFill>
                <a:latin typeface="Helvetica Neue"/>
              </a:rPr>
              <a:t>PERSIST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349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93F"/>
                </a:solidFill>
                <a:latin typeface="Helvetica Neue"/>
              </a:rPr>
              <a:t>SQLite — orders + line_items + audit_log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5349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95051"/>
                </a:solidFill>
                <a:latin typeface="Helvetica Neue"/>
              </a:rPr>
              <a:t>src/storage.py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95051"/>
                </a:solidFill>
                <a:latin typeface="Helvetica Neue"/>
              </a:rPr>
              <a:t>The LLM (stage 4) is the only non-deterministic stage. Compliance-relevant work — redaction, schema enforcement — stays predictable; the LLM never sees raw sensitive identifiers and cannot bypass schema validation.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Helvetica Neue"/>
              </a:rPr>
              <a:t>2 / 5  · 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RX DOC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93F"/>
                </a:solidFill>
                <a:latin typeface="Helvetica Neue"/>
              </a:rPr>
              <a:t>The LLM stage — universal adapter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LangChain + Claude Haiku 4.5 turns any input format into one Pydantic schema.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6858000" cy="1463040"/>
          </a:xfrm>
          <a:prstGeom prst="rect">
            <a:avLst/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2E5E5"/>
                </a:solidFill>
                <a:latin typeface="Menlo"/>
              </a:rPr>
              <a:t>src/llm.py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enlo"/>
              </a:rPr>
              <a:t>init_chat_model(
    "claude-haiku-4-5-20251001",
    model_provider="anthropic",
).with_structured_output(PurchaseOrder)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A8B3"/>
                </a:solidFill>
                <a:latin typeface="Helvetica Neue"/>
              </a:rPr>
              <a:t>Why an LLM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146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Schema-aligned extraction from heterogeneous text — PDFs, table rows, free-text SMS.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26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New buyer channels add NO code, only sample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33756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Confidence + flagged_fields self-reported in the same call.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7490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Only stage that's non-deterministic; everything around it is rules-based.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A8B3"/>
                </a:solidFill>
                <a:latin typeface="Helvetica Neue"/>
              </a:rPr>
              <a:t>Input → output example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89120"/>
            <a:ext cx="5303520" cy="155448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89120"/>
            <a:ext cx="54864" cy="155448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Helvetica Neue"/>
              </a:rPr>
              <a:t>SCRUBBED SMS (sent to model)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193F"/>
                </a:solidFill>
                <a:latin typeface="Menlo"/>
              </a:rPr>
              <a:t>hi this is sarah at lakeside rx, can we get 3 boxes of
lisinopril 20 mg, 90 ct each — patient [REDACTED_PHI]
needs starting Monday — acct [REDACTED_ACCOUNT]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5486400" cy="155448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389120"/>
            <a:ext cx="54864" cy="155448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34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Helvetica Neue"/>
              </a:rPr>
              <a:t>CANONICAL PurchaseOrder (model output)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75488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8193F"/>
                </a:solidFill>
                <a:latin typeface="Menlo"/>
              </a:rPr>
              <a:t>buyer_org_name: "Lakeside Rx"
requested_ship_date: 2026-05-03
line_items: [{drug: "Lisinopril", strength: "20 mg",
              quantity: 3, unit: "box", pack: "90 ct"}]
confidence: 0.85   flagged_fields: []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Cost: ~$0.001 per ingestion on Haiku 4.5. ~$0.10 to process all bundled samples.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Helvetica Neue"/>
              </a:rPr>
              <a:t>3 / 5  ·  The LLM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RX DOC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93F"/>
                </a:solidFill>
                <a:latin typeface="Helvetica Neue"/>
              </a:rPr>
              <a:t>Compliance — deterministic redaction + append-only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Sensitive identifiers never reach the model. Every ingestion leaves a record.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440680" cy="402336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73152" cy="402336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A8B3"/>
                </a:solidFill>
                <a:latin typeface="Helvetica Neue"/>
              </a:rPr>
              <a:t>SCRUBBER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Deterministic regex · runs BEFORE the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06324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90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[A-Z]{2}\d{7}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090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[REDACTED_DEA]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42900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564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acct/account/customer +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564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[REDACTED_ACCOUNT]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9476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221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routing/aba + 9-digit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82219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[REDACTED_ROUTING]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6052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SSN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879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###-##-####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1879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[REDACTED_SSN]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52628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553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US phone formats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5537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[REDACTED_PHONE]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89204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9194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name@host.tld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9194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[REDACTED_EMAIL]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257800"/>
            <a:ext cx="777240" cy="24688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2852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Menlo"/>
              </a:rPr>
              <a:t>patient/pt/for + 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2852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A8B3"/>
                </a:solidFill>
                <a:latin typeface="Menlo"/>
              </a:rPr>
              <a:t>→ [REDACTED_PHI]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011680"/>
            <a:ext cx="5440680" cy="402336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011680"/>
            <a:ext cx="73152" cy="402336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A8B3"/>
                </a:solidFill>
                <a:latin typeface="Helvetica Neue"/>
              </a:rPr>
              <a:t>AUDIT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5603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Append-only · 340B-relevant procurement compliance trail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0632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One row per ingestion attempt (accepted OR rejected)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29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Captures: timestamp, source file &amp; format, redaction signature by 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7947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LLM confidence + flagged_fields path list for review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1605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Status: 'accepted' / 'rejected'; FK to orders.id when accepted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5262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Persists in store.db → audit_log; survives across sessions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8920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•  CSV export for offline compliance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Production swap for the scrubber: AWS Comprehend Medical or Microsoft Presidio for full HIPAA PHI detection across all 18 identifier classes.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Helvetica Neue"/>
              </a:rPr>
              <a:t>4 / 5  · 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RX DOC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93F"/>
                </a:solidFill>
                <a:latin typeface="Helvetica Neue"/>
              </a:rPr>
              <a:t>Outputs and downstream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Three demo artifacts; six production consumers; one-line provider swap.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611880" cy="13716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4864" cy="13716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1945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128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93F"/>
                </a:solidFill>
                <a:latin typeface="Helvetica Neue"/>
              </a:rPr>
              <a:t>Canonical PurchaseOrder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Marketplace order-management API ingests this verbatim.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3611880" cy="13716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011680"/>
            <a:ext cx="54864" cy="13716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09160" y="21945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2128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93F"/>
                </a:solidFill>
                <a:latin typeface="Helvetica Neue"/>
              </a:rPr>
              <a:t>Buyer confirmation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060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Brand-aligned, single-page. Email back to acknowledge.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011680"/>
            <a:ext cx="3611880" cy="1371600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011680"/>
            <a:ext cx="54864" cy="1371600"/>
          </a:xfrm>
          <a:prstGeom prst="rect">
            <a:avLst/>
          </a:prstGeom>
          <a:solidFill>
            <a:srgbClr val="00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9640" y="21945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128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93F"/>
                </a:solidFill>
                <a:latin typeface="Helvetica Neue"/>
              </a:rPr>
              <a:t>Audit-log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060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Flattened audit_log for offline compliance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A8B3"/>
                </a:solidFill>
                <a:latin typeface="Helvetica Neue"/>
              </a:rPr>
              <a:t>Production wiring (illustrative — not yet enabled)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10881360" cy="29260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Marketplace OMS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On accept (≥0.70 confidence)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REST POST · canonical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3616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Supplier ERP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3616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On accept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616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NetSuite / SAP / Mulesoft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608576"/>
            <a:ext cx="10881360" cy="29260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542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Buyer confirmation email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65429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On accept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65429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PDF (above), attached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01184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9469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EDI 855 acknowledgement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94690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If buyer is EDI-enabled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94690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X12 855 over AS2 / SFTP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193792"/>
            <a:ext cx="10881360" cy="292608"/>
          </a:xfrm>
          <a:prstGeom prst="rect">
            <a:avLst/>
          </a:prstGeom>
          <a:solidFill>
            <a:srgbClr val="F2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2395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Review queue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2395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Below threshold OR flagged_fields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2395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Same record, reviewer scopes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486400"/>
            <a:ext cx="108813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532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193F"/>
                </a:solidFill>
                <a:latin typeface="Helvetica Neue"/>
              </a:rPr>
              <a:t>Compliance archive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532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Helvetica Neue"/>
              </a:rPr>
              <a:t>Always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5532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95051"/>
                </a:solidFill>
                <a:latin typeface="Menlo"/>
              </a:rPr>
              <a:t>Audit row → tamper-evident store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solidFill>
            <a:srgbClr val="181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6035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nlo"/>
              </a:rPr>
              <a:t>Bedrock swap (one line):  init_chat_model("anthropic.claude-…", model_provider="bedrock_converse")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95051"/>
                </a:solidFill>
                <a:latin typeface="Helvetica Neue"/>
              </a:rPr>
              <a:t>5 / 5  ·  Outputs and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