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GRAPHITERX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8193F"/>
                </a:solidFill>
                <a:latin typeface="Helvetica Neue"/>
              </a:rPr>
              <a:t>The intake bottleneck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A8B3"/>
                </a:solidFill>
                <a:latin typeface="Helvetica Neue"/>
              </a:rPr>
              <a:t>Long-tail B2B pharma buyers don't run EDI. Orders arrive in three messy channels.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3200400" cy="182880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73152" cy="1828800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42316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8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93F"/>
                </a:solidFill>
                <a:latin typeface="Helvetica Neue"/>
              </a:rPr>
              <a:t>Faxed purchase 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Hospital pharmacies → 503B compounders.
Free-text notes, table-of-line-items.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2194560"/>
            <a:ext cx="3200400" cy="182880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2194560"/>
            <a:ext cx="73152" cy="1828800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0560" y="242316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8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834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93F"/>
                </a:solidFill>
                <a:latin typeface="Helvetica Neue"/>
              </a:rPr>
              <a:t>Emailed reorder spreadsheets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15468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Pharmacy chains.
Column names chosen by the buyer:
Acct, NDC#, item, strngth, pkg…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2194560"/>
            <a:ext cx="3200400" cy="182880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2194560"/>
            <a:ext cx="73152" cy="1828800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242316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8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SMS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834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93F"/>
                </a:solidFill>
                <a:latin typeface="Helvetica Neue"/>
              </a:rPr>
              <a:t>Text messages to the rep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15468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Independents.
“need 20 bottles metformin
500mg, account 12345 — Joe”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93F"/>
                </a:solidFill>
                <a:latin typeface="Helvetica Neue"/>
              </a:rPr>
              <a:t>Today: ops teams hand-key each document into the marketplace or supplier ERP.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70916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95051"/>
                </a:solidFill>
                <a:latin typeface="Helvetica Neue"/>
              </a:rPr>
              <a:t>•  Slow — multi-day fulfillment lag from manual keying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00176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95051"/>
                </a:solidFill>
                <a:latin typeface="Helvetica Neue"/>
              </a:rPr>
              <a:t>•  Error-prone — wrong NDC, wrong quantity → recall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294376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95051"/>
                </a:solidFill>
                <a:latin typeface="Helvetica Neue"/>
              </a:rPr>
              <a:t>•  Engineering-bottlenecked — every new buyer channel needs a new parser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586984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95051"/>
                </a:solidFill>
                <a:latin typeface="Helvetica Neue"/>
              </a:rPr>
              <a:t>•  Compliance-hostile — sensitive identifiers persist in inboxes; no consistent audit trail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95051"/>
                </a:solidFill>
                <a:latin typeface="Helvetica Neue"/>
              </a:rPr>
              <a:t>1 / 5  ·  Order &amp; Document Intake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GRAPHITERX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8193F"/>
                </a:solidFill>
                <a:latin typeface="Helvetica Neue"/>
              </a:rPr>
              <a:t>Six stages, three deterministic, one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A8B3"/>
                </a:solidFill>
                <a:latin typeface="Helvetica Neue"/>
              </a:rPr>
              <a:t>Bytes through one pipeline regardless of input format. New formats add no code.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10881360" cy="566928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73152" cy="566928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3055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A8B3"/>
                </a:solidFill>
                <a:latin typeface="Helvetica Neue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3055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93F"/>
                </a:solidFill>
                <a:latin typeface="Helvetica Neue"/>
              </a:rPr>
              <a:t>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488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8193F"/>
                </a:solidFill>
                <a:latin typeface="Helvetica Neue"/>
              </a:rPr>
              <a:t>Extension 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2148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95051"/>
                </a:solidFill>
                <a:latin typeface="Helvetica Neue"/>
              </a:rPr>
              <a:t>src/detector.py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10881360" cy="566928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651760"/>
            <a:ext cx="73152" cy="566928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77063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A8B3"/>
                </a:solidFill>
                <a:latin typeface="Helvetica Neue"/>
              </a:rPr>
              <a:t>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77063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93F"/>
                </a:solidFill>
                <a:latin typeface="Helvetica Neue"/>
              </a:rPr>
              <a:t>EXTRACT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7889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8193F"/>
                </a:solidFill>
                <a:latin typeface="Helvetica Neue"/>
              </a:rPr>
              <a:t>pypdf · pandas · passthrough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27889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95051"/>
                </a:solidFill>
                <a:latin typeface="Helvetica Neue"/>
              </a:rPr>
              <a:t>src/extractors.py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291840"/>
            <a:ext cx="10881360" cy="566928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291840"/>
            <a:ext cx="73152" cy="566928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41071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A8B3"/>
                </a:solidFill>
                <a:latin typeface="Helvetica Neue"/>
              </a:rP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41071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93F"/>
                </a:solidFill>
                <a:latin typeface="Helvetica Neue"/>
              </a:rPr>
              <a:t>SCRUB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4290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8193F"/>
                </a:solidFill>
                <a:latin typeface="Helvetica Neue"/>
              </a:rPr>
              <a:t>Deterministic regex → typed [REDACTED_*] tokens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429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95051"/>
                </a:solidFill>
                <a:latin typeface="Helvetica Neue"/>
              </a:rPr>
              <a:t>src/scrubber.py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931920"/>
            <a:ext cx="10881360" cy="566928"/>
          </a:xfrm>
          <a:prstGeom prst="rect">
            <a:avLst/>
          </a:prstGeom>
          <a:solidFill>
            <a:srgbClr val="18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931920"/>
            <a:ext cx="73152" cy="566928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05079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A8B3"/>
                </a:solidFill>
                <a:latin typeface="Helvetica Neue"/>
              </a:rPr>
              <a:t>4.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05079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elvetica Neue"/>
              </a:rPr>
              <a:t>STRUCTURED LLM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0690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LangChain init_chat_model + with_structured_output · Claude Haiku 4.5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4069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D2E5E5"/>
                </a:solidFill>
                <a:latin typeface="Helvetica Neue"/>
              </a:rPr>
              <a:t>src/llm.py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572000"/>
            <a:ext cx="10881360" cy="566928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4572000"/>
            <a:ext cx="73152" cy="566928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69087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A8B3"/>
                </a:solidFill>
                <a:latin typeface="Helvetica Neue"/>
              </a:rPr>
              <a:t>5.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469087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93F"/>
                </a:solidFill>
                <a:latin typeface="Helvetica Neue"/>
              </a:rPr>
              <a:t>VALIDATE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7091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8193F"/>
                </a:solidFill>
                <a:latin typeface="Helvetica Neue"/>
              </a:rPr>
              <a:t>Pydantic v2 PurchaseOrder + LineItem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47091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95051"/>
                </a:solidFill>
                <a:latin typeface="Helvetica Neue"/>
              </a:rPr>
              <a:t>src/schema.py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212080"/>
            <a:ext cx="10881360" cy="566928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5212080"/>
            <a:ext cx="73152" cy="566928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3095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A8B3"/>
                </a:solidFill>
                <a:latin typeface="Helvetica Neue"/>
              </a:rPr>
              <a:t>6.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533095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93F"/>
                </a:solidFill>
                <a:latin typeface="Helvetica Neue"/>
              </a:rPr>
              <a:t>PERSIST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53492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8193F"/>
                </a:solidFill>
                <a:latin typeface="Helvetica Neue"/>
              </a:rPr>
              <a:t>SQLite — orders + line_items + audit_log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53492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95051"/>
                </a:solidFill>
                <a:latin typeface="Helvetica Neue"/>
              </a:rPr>
              <a:t>src/storage.py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95051"/>
                </a:solidFill>
                <a:latin typeface="Helvetica Neue"/>
              </a:rPr>
              <a:t>The LLM (stage 4) is the only non-deterministic stage. Compliance-relevant work — redaction, schema enforcement — stays predictable; the LLM never sees raw sensitive identifiers and cannot bypass schema validation.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95051"/>
                </a:solidFill>
                <a:latin typeface="Helvetica Neue"/>
              </a:rPr>
              <a:t>2 / 5  · 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GRAPHITERX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8193F"/>
                </a:solidFill>
                <a:latin typeface="Helvetica Neue"/>
              </a:rPr>
              <a:t>The LLM stage — universal adapter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A8B3"/>
                </a:solidFill>
                <a:latin typeface="Helvetica Neue"/>
              </a:rPr>
              <a:t>LangChain + Claude Haiku 4.5 turns any input format into one Pydantic schema.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6858000" cy="1463040"/>
          </a:xfrm>
          <a:prstGeom prst="rect">
            <a:avLst/>
          </a:prstGeom>
          <a:solidFill>
            <a:srgbClr val="18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2E5E5"/>
                </a:solidFill>
                <a:latin typeface="Menlo"/>
              </a:rPr>
              <a:t>src/llm.py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6400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enlo"/>
              </a:rPr>
              <a:t>init_chat_model(
    "claude-haiku-4-5-20251001",
    model_provider="anthropic",
).with_structured_output(PurchaseOrder)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10312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A8B3"/>
                </a:solidFill>
                <a:latin typeface="Helvetica Neue"/>
              </a:rPr>
              <a:t>Why an LLM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51460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•  Schema-aligned extraction from heterogeneous text — PDFs, table rows, free-text SMS.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9260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•  New buyer channels add NO code, only sample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33756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•  Confidence + flagged_fields self-reported in the same call.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74904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•  Only stage that's non-deterministic; everything around it is rules-based.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A8B3"/>
                </a:solidFill>
                <a:latin typeface="Helvetica Neue"/>
              </a:rPr>
              <a:t>Input → output example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89120"/>
            <a:ext cx="5303520" cy="155448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389120"/>
            <a:ext cx="54864" cy="1554480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4348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A8B3"/>
                </a:solidFill>
                <a:latin typeface="Helvetica Neue"/>
              </a:rPr>
              <a:t>SCRUBBED SMS (sent to model)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54880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8193F"/>
                </a:solidFill>
                <a:latin typeface="Menlo"/>
              </a:rPr>
              <a:t>hi this is sarah at lakeside rx, can we get 3 boxes of
lisinopril 20 mg, 90 ct each — patient [REDACTED_PHI]
needs starting Monday — acct [REDACTED_ACCOUNT]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389120"/>
            <a:ext cx="5486400" cy="155448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4389120"/>
            <a:ext cx="54864" cy="1554480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4348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A8B3"/>
                </a:solidFill>
                <a:latin typeface="Helvetica Neue"/>
              </a:rPr>
              <a:t>CANONICAL PurchaseOrder (model output)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754880"/>
            <a:ext cx="52120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8193F"/>
                </a:solidFill>
                <a:latin typeface="Menlo"/>
              </a:rPr>
              <a:t>buyer_org_name: "Lakeside Rx"
requested_ship_date: 2026-05-03
line_items: [{drug: "Lisinopril", strength: "20 mg",
              quantity: 3, unit: "box", pack: "90 ct"}]
confidence: 0.85   flagged_fields: []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126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Cost: ~$0.001 per ingestion on Haiku 4.5. ~$0.10 to process all bundled samples.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95051"/>
                </a:solidFill>
                <a:latin typeface="Helvetica Neue"/>
              </a:rPr>
              <a:t>3 / 5  ·  The LLM stage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GRAPHITERX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8193F"/>
                </a:solidFill>
                <a:latin typeface="Helvetica Neue"/>
              </a:rPr>
              <a:t>Compliance — deterministic redaction + append-only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A8B3"/>
                </a:solidFill>
                <a:latin typeface="Helvetica Neue"/>
              </a:rPr>
              <a:t>Sensitive identifiers never reach the model. Every ingestion leaves a record.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5440680" cy="402336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73152" cy="4023360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A8B3"/>
                </a:solidFill>
                <a:latin typeface="Helvetica Neue"/>
              </a:rPr>
              <a:t>SCRUBBER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93F"/>
                </a:solidFill>
                <a:latin typeface="Helvetica Neue"/>
              </a:rPr>
              <a:t>Deterministic regex · runs BEFORE the LLM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063240"/>
            <a:ext cx="777240" cy="246888"/>
          </a:xfrm>
          <a:prstGeom prst="roundRect">
            <a:avLst>
              <a:gd name="adj" fmla="val 50000"/>
            </a:avLst>
          </a:prstGeom>
          <a:solidFill>
            <a:srgbClr val="18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09067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95051"/>
                </a:solidFill>
                <a:latin typeface="Menlo"/>
              </a:rPr>
              <a:t>[A-Z]{2}\d{7}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09067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A8B3"/>
                </a:solidFill>
                <a:latin typeface="Menlo"/>
              </a:rPr>
              <a:t>→ [REDACTED_DEA]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429000"/>
            <a:ext cx="777240" cy="246888"/>
          </a:xfrm>
          <a:prstGeom prst="roundRect">
            <a:avLst>
              <a:gd name="adj" fmla="val 50000"/>
            </a:avLst>
          </a:prstGeom>
          <a:solidFill>
            <a:srgbClr val="18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Account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45643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95051"/>
                </a:solidFill>
                <a:latin typeface="Menlo"/>
              </a:rPr>
              <a:t>acct/account/customer + #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45643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A8B3"/>
                </a:solidFill>
                <a:latin typeface="Menlo"/>
              </a:rPr>
              <a:t>→ [REDACTED_ACCOUNT]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794760"/>
            <a:ext cx="777240" cy="246888"/>
          </a:xfrm>
          <a:prstGeom prst="roundRect">
            <a:avLst>
              <a:gd name="adj" fmla="val 50000"/>
            </a:avLst>
          </a:prstGeom>
          <a:solidFill>
            <a:srgbClr val="18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Routing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82219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95051"/>
                </a:solidFill>
                <a:latin typeface="Menlo"/>
              </a:rPr>
              <a:t>routing/aba + 9-digit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82219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A8B3"/>
                </a:solidFill>
                <a:latin typeface="Menlo"/>
              </a:rPr>
              <a:t>→ [REDACTED_ROUTING]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160520"/>
            <a:ext cx="777240" cy="246888"/>
          </a:xfrm>
          <a:prstGeom prst="roundRect">
            <a:avLst>
              <a:gd name="adj" fmla="val 50000"/>
            </a:avLst>
          </a:prstGeom>
          <a:solidFill>
            <a:srgbClr val="18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SSN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1879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95051"/>
                </a:solidFill>
                <a:latin typeface="Menlo"/>
              </a:rPr>
              <a:t>###-##-####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1879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A8B3"/>
                </a:solidFill>
                <a:latin typeface="Menlo"/>
              </a:rPr>
              <a:t>→ [REDACTED_SSN]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526280"/>
            <a:ext cx="777240" cy="246888"/>
          </a:xfrm>
          <a:prstGeom prst="roundRect">
            <a:avLst>
              <a:gd name="adj" fmla="val 50000"/>
            </a:avLst>
          </a:prstGeom>
          <a:solidFill>
            <a:srgbClr val="18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Phone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5537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95051"/>
                </a:solidFill>
                <a:latin typeface="Menlo"/>
              </a:rPr>
              <a:t>US phone formats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45537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A8B3"/>
                </a:solidFill>
                <a:latin typeface="Menlo"/>
              </a:rPr>
              <a:t>→ [REDACTED_PHONE]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4892040"/>
            <a:ext cx="777240" cy="246888"/>
          </a:xfrm>
          <a:prstGeom prst="roundRect">
            <a:avLst>
              <a:gd name="adj" fmla="val 50000"/>
            </a:avLst>
          </a:prstGeom>
          <a:solidFill>
            <a:srgbClr val="18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Email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91947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95051"/>
                </a:solidFill>
                <a:latin typeface="Menlo"/>
              </a:rPr>
              <a:t>name@host.tld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491947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A8B3"/>
                </a:solidFill>
                <a:latin typeface="Menlo"/>
              </a:rPr>
              <a:t>→ [REDACTED_EMAIL]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5257800"/>
            <a:ext cx="777240" cy="246888"/>
          </a:xfrm>
          <a:prstGeom prst="roundRect">
            <a:avLst>
              <a:gd name="adj" fmla="val 50000"/>
            </a:avLst>
          </a:prstGeom>
          <a:solidFill>
            <a:srgbClr val="18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PHI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528523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95051"/>
                </a:solidFill>
                <a:latin typeface="Menlo"/>
              </a:rPr>
              <a:t>patient/pt/for + name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528523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A8B3"/>
                </a:solidFill>
                <a:latin typeface="Menlo"/>
              </a:rPr>
              <a:t>→ [REDACTED_PHI]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011680"/>
            <a:ext cx="5440680" cy="402336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2011680"/>
            <a:ext cx="73152" cy="4023360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219456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A8B3"/>
                </a:solidFill>
                <a:latin typeface="Helvetica Neue"/>
              </a:rPr>
              <a:t>AUDIT 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256032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93F"/>
                </a:solidFill>
                <a:latin typeface="Helvetica Neue"/>
              </a:rPr>
              <a:t>Append-only · 340B-relevant procurement compliance trail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06324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•  One row per ingestion attempt (accepted OR rejected)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342900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•  Captures: timestamp, source file &amp; format, redaction signature by type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379476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•  LLM confidence + flagged_fields path list for review scope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16052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•  Status: 'accepted' / 'rejected'; FK to orders.id when accepted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452628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•  Persists in store.db → audit_log; survives across sessions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89204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•  CSV export for offline compliance 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Production swap for the scrubber: AWS Comprehend Medical or Microsoft Presidio for full HIPAA PHI detection across all 18 identifier classes.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95051"/>
                </a:solidFill>
                <a:latin typeface="Helvetica Neue"/>
              </a:rPr>
              <a:t>4 / 5  · 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GRAPHITERX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8193F"/>
                </a:solidFill>
                <a:latin typeface="Helvetica Neue"/>
              </a:rPr>
              <a:t>Outputs and downstream wiring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A8B3"/>
                </a:solidFill>
                <a:latin typeface="Helvetica Neue"/>
              </a:rPr>
              <a:t>Three demo artifacts; six production consumers; one-line provider swap.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3611880" cy="137160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4864" cy="1371600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19456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8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21284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93F"/>
                </a:solidFill>
                <a:latin typeface="Helvetica Neue"/>
              </a:rPr>
              <a:t>Canonical PurchaseOrder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Marketplace order-management API ingests this verbatim.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2011680"/>
            <a:ext cx="3611880" cy="137160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2011680"/>
            <a:ext cx="54864" cy="1371600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09160" y="219456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8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21284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93F"/>
                </a:solidFill>
                <a:latin typeface="Helvetica Neue"/>
              </a:rPr>
              <a:t>Buyer confirmation receipt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60604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Brand-aligned, single-page. Email back to acknowledge.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011680"/>
            <a:ext cx="3611880" cy="137160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2011680"/>
            <a:ext cx="54864" cy="1371600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49640" y="219456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8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21284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93F"/>
                </a:solidFill>
                <a:latin typeface="Helvetica Neue"/>
              </a:rPr>
              <a:t>Audit-log export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60604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Flattened audit_log for offline compliance review.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657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A8B3"/>
                </a:solidFill>
                <a:latin typeface="Helvetica Neue"/>
              </a:rPr>
              <a:t>Production wiring (illustrative — not yet enabled)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023360"/>
            <a:ext cx="10881360" cy="292608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069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93F"/>
                </a:solidFill>
                <a:latin typeface="Helvetica Neue"/>
              </a:rPr>
              <a:t>Marketplace OMS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0690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On accept (≥0.70 confidence)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0690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Menlo"/>
              </a:rPr>
              <a:t>REST POST · canonical JSON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15968"/>
            <a:ext cx="108813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36168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93F"/>
                </a:solidFill>
                <a:latin typeface="Helvetica Neue"/>
              </a:rPr>
              <a:t>Supplier ERP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36168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On accept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36168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Menlo"/>
              </a:rPr>
              <a:t>NetSuite / SAP / Mulesoft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608576"/>
            <a:ext cx="10881360" cy="292608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65429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93F"/>
                </a:solidFill>
                <a:latin typeface="Helvetica Neue"/>
              </a:rPr>
              <a:t>Buyer confirmation email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465429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On accept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65429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Menlo"/>
              </a:rPr>
              <a:t>PDF (above), attached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901184"/>
            <a:ext cx="108813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94690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93F"/>
                </a:solidFill>
                <a:latin typeface="Helvetica Neue"/>
              </a:rPr>
              <a:t>EDI 855 acknowledgement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494690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If buyer is EDI-enabled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494690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Menlo"/>
              </a:rPr>
              <a:t>X12 855 over AS2 / SFTP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193792"/>
            <a:ext cx="10881360" cy="292608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23951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93F"/>
                </a:solidFill>
                <a:latin typeface="Helvetica Neue"/>
              </a:rPr>
              <a:t>Review queue UI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523951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Below threshold OR flagged_fields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523951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Menlo"/>
              </a:rPr>
              <a:t>Same record, reviewer scopes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486400"/>
            <a:ext cx="108813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5321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93F"/>
                </a:solidFill>
                <a:latin typeface="Helvetica Neue"/>
              </a:rPr>
              <a:t>Compliance archive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55321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Always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55321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Menlo"/>
              </a:rPr>
              <a:t>Audit row → tamper-evident store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solidFill>
            <a:srgbClr val="18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" y="6035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nlo"/>
              </a:rPr>
              <a:t>Bedrock swap (one line):  init_chat_model("anthropic.claude-…", model_provider="bedrock_converse")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5836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95051"/>
                </a:solidFill>
                <a:latin typeface="Helvetica Neue"/>
              </a:rPr>
              <a:t>5 / 5  ·  Outputs and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